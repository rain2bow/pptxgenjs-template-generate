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Noto Sans SC"/>
              </a:defRPr>
            </a:pPr>
            <a:r>
              <a:rPr sz="1200" b="0" i="0" u="none" strike="noStrike">
                <a:solidFill>
                  <a:srgbClr val="111111"/>
                </a:solidFill>
                <a:latin typeface="Noto Sans SC"/>
              </a:rPr>
              <a:t>风险事件处置量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风险事件处置量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F66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ED8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148</c:v>
                </c:pt>
                <c:pt idx="2">
                  <c:v>176</c:v>
                </c:pt>
                <c:pt idx="3">
                  <c:v>214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F666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6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DED8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F666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6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111111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11111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Noto Sans SC"/>
              </a:defRPr>
            </a:pPr>
            <a:r>
              <a:rPr sz="1200" b="0" i="0" u="none" strike="noStrike">
                <a:solidFill>
                  <a:srgbClr val="111111"/>
                </a:solidFill>
                <a:latin typeface="Noto Sans SC"/>
              </a:rPr>
              <a:t>渠道结构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渠道结构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bubble3D val="0"/>
            <c:spPr>
              <a:solidFill>
                <a:srgbClr val="6F6663"/>
              </a:solidFill>
              <a:effectLst/>
            </c:spPr>
          </c:dPt>
          <c:dPt>
            <c:idx val="3"/>
            <c:bubble3D val="0"/>
            <c:spPr>
              <a:solidFill>
                <a:srgbClr val="DED8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11111"/>
                      </a:solidFill>
                      <a:latin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App</c:v>
                </c:pt>
                <c:pt idx="1">
                  <c:v>网点</c:v>
                </c:pt>
                <c:pt idx="2">
                  <c:v>远程</c:v>
                </c:pt>
                <c:pt idx="3">
                  <c:v>客户经理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18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>
            <a:alpha val="0"/>
          </a:srgbClr>
        </a:solidFill>
        <a:ln w="12700" cap="flat">
          <a:solidFill>
            <a:srgbClr val="11111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11111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 w="12700" cap="flat">
      <a:solidFill>
        <a:srgbClr val="11111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Noto Sans SC"/>
              </a:defRPr>
            </a:pPr>
            <a:r>
              <a:rPr sz="1200" b="0" i="0" u="none" strike="noStrike">
                <a:solidFill>
                  <a:srgbClr val="111111"/>
                </a:solidFill>
                <a:latin typeface="Noto Sans SC"/>
              </a:rPr>
              <a:t>客户活跃趋势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客户活跃趋势</c:v>
                </c:pt>
              </c:strCache>
            </c:strRef>
          </c:tx>
          <c:spPr>
            <a:solidFill>
              <a:srgbClr val="C8102E"/>
            </a:solidFill>
            <a:ln w="2794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63</c:v>
                </c:pt>
                <c:pt idx="3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F666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6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DED8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F666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6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111111"/>
          </a:solidFill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 w="12700" cap="flat">
      <a:solidFill>
        <a:srgbClr val="11111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sv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sv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sv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5" Type="http://schemas.openxmlformats.org/officeDocument/2006/relationships/chart" Target="/ppt/charts/chart2.xml"/><Relationship Id="rId1" Type="http://schemas.openxmlformats.org/officeDocument/2006/relationships/image" Target="../media/Slide-4-image-1.sv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Slide-5-image-1.sv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sv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sv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96926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 MERCHANTS BANK / 2026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13232" y="1517904"/>
            <a:ext cx="9326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招商银行业务增长与数字化经营汇报</a:t>
            </a:r>
            <a:endParaRPr lang="en-US" sz="3300" dirty="0"/>
          </a:p>
        </p:txBody>
      </p:sp>
      <p:sp>
        <p:nvSpPr>
          <p:cNvPr id="11" name="Shape 7"/>
          <p:cNvSpPr/>
          <p:nvPr/>
        </p:nvSpPr>
        <p:spPr>
          <a:xfrm>
            <a:off x="713232" y="3849624"/>
            <a:ext cx="1417320" cy="822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416966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围绕客户经营、风险控制与效率提升的阶段性复盘</a:t>
            </a:r>
            <a:endParaRPr lang="en-US" sz="1520" dirty="0"/>
          </a:p>
        </p:txBody>
      </p:sp>
      <p:sp>
        <p:nvSpPr>
          <p:cNvPr id="13" name="Shape 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pic>
        <p:nvPicPr>
          <p:cNvPr id="5" name="Image 1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07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950976"/>
            <a:ext cx="109728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9692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1408176"/>
            <a:ext cx="62636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以客户价值为核心，形成增长、风控与效率的闭环。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960120" y="3182112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>
                    <a:alpha val="86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本页用于放置全篇核心判断。建议用一句明确结论加一行依据，不要写成普通目录。</a:t>
            </a:r>
            <a:endParaRPr lang="en-US" sz="1420" dirty="0"/>
          </a:p>
        </p:txBody>
      </p:sp>
      <p:sp>
        <p:nvSpPr>
          <p:cNvPr id="13" name="Shape 9"/>
          <p:cNvSpPr/>
          <p:nvPr/>
        </p:nvSpPr>
        <p:spPr>
          <a:xfrm>
            <a:off x="7360920" y="2542032"/>
            <a:ext cx="352044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102E">
                <a:alpha val="5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89520" y="38039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8102E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SLOT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111111">
                <a:alpha val="3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pic>
        <p:nvPicPr>
          <p:cNvPr id="5" name="Image 1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07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969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Snapshot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138074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关键经营指标保持稳健改善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686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868680" y="4541139"/>
            <a:ext cx="2103120" cy="597789"/>
          </a:xfrm>
          <a:prstGeom prst="rect">
            <a:avLst/>
          </a:prstGeom>
          <a:solidFill>
            <a:srgbClr val="F6F3F2"/>
          </a:solidFill>
          <a:ln w="5080">
            <a:solidFill>
              <a:srgbClr val="DED8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零售客户增长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+32%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3611880" y="4346448"/>
            <a:ext cx="2103120" cy="792480"/>
          </a:xfrm>
          <a:prstGeom prst="rect">
            <a:avLst/>
          </a:prstGeom>
          <a:solidFill>
            <a:srgbClr val="F6F3F2"/>
          </a:solidFill>
          <a:ln w="5080">
            <a:solidFill>
              <a:srgbClr val="DED8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118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活跃客户提升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550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355080" y="3456432"/>
            <a:ext cx="2103120" cy="1682496"/>
          </a:xfrm>
          <a:prstGeom prst="rect">
            <a:avLst/>
          </a:prstGeom>
          <a:solidFill>
            <a:srgbClr val="F6F3F2"/>
          </a:solidFill>
          <a:ln w="5080">
            <a:solidFill>
              <a:srgbClr val="DED8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50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风险预警覆盖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09828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-24%</a:t>
            </a:r>
            <a:endParaRPr lang="en-US" sz="2800" dirty="0"/>
          </a:p>
        </p:txBody>
      </p:sp>
      <p:sp>
        <p:nvSpPr>
          <p:cNvPr id="21" name="Shape 17"/>
          <p:cNvSpPr/>
          <p:nvPr/>
        </p:nvSpPr>
        <p:spPr>
          <a:xfrm>
            <a:off x="9098280" y="4457700"/>
            <a:ext cx="2103120" cy="681228"/>
          </a:xfrm>
          <a:prstGeom prst="rect">
            <a:avLst/>
          </a:prstGeom>
          <a:solidFill>
            <a:srgbClr val="C8102E"/>
          </a:solidFill>
          <a:ln w="5080">
            <a:solidFill>
              <a:srgbClr val="C8102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098280" y="5349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流程时效缩短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111111">
                <a:alpha val="3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pic>
        <p:nvPicPr>
          <p:cNvPr id="5" name="Image 1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07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969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&amp; Efficiency Dashboard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138074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风险与效率指标联动监控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713232" y="2423160"/>
            <a:ext cx="1874520" cy="9692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9536" y="2587752"/>
            <a:ext cx="15727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风险命中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9536" y="2843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935224" y="2423160"/>
            <a:ext cx="1874520" cy="969264"/>
          </a:xfrm>
          <a:prstGeom prst="rect">
            <a:avLst/>
          </a:prstGeom>
          <a:solidFill>
            <a:srgbClr val="F6F3F2"/>
          </a:solidFill>
          <a:ln w="12700">
            <a:solidFill>
              <a:srgbClr val="F6F3F2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81528" y="2587752"/>
            <a:ext cx="15727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处置时效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081528" y="2843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2.4h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157216" y="2423160"/>
            <a:ext cx="1874520" cy="969264"/>
          </a:xfrm>
          <a:prstGeom prst="rect">
            <a:avLst/>
          </a:prstGeom>
          <a:solidFill>
            <a:srgbClr val="F6F3F2"/>
          </a:solidFill>
          <a:ln w="12700">
            <a:solidFill>
              <a:srgbClr val="F6F3F2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03520" y="2587752"/>
            <a:ext cx="15727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自动化率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3520" y="2843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7379208" y="2423160"/>
            <a:ext cx="1874520" cy="969264"/>
          </a:xfrm>
          <a:prstGeom prst="rect">
            <a:avLst/>
          </a:prstGeom>
          <a:solidFill>
            <a:srgbClr val="F6F3F2"/>
          </a:solidFill>
          <a:ln w="12700">
            <a:solidFill>
              <a:srgbClr val="F6F3F2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25512" y="2587752"/>
            <a:ext cx="15727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复核准确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525512" y="284378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19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13232" y="3749040"/>
          <a:ext cx="49834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6144768" y="3749040"/>
          <a:ext cx="49834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hape 1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111111">
                <a:alpha val="3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pic>
        <p:nvPicPr>
          <p:cNvPr id="5" name="Image 1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07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969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Operation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138074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客户经营从单点触达转向分层运营</a:t>
            </a:r>
            <a:endParaRPr lang="en-US" sz="2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13232" y="2377440"/>
          <a:ext cx="5715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 7"/>
          <p:cNvSpPr/>
          <p:nvPr/>
        </p:nvSpPr>
        <p:spPr>
          <a:xfrm>
            <a:off x="6784848" y="2423160"/>
            <a:ext cx="425196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通过客群分层、权益匹配与渠道协同，提升客户转化与长期价值。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784848" y="3273552"/>
            <a:ext cx="4023360" cy="0"/>
          </a:xfrm>
          <a:prstGeom prst="line">
            <a:avLst/>
          </a:prstGeom>
          <a:noFill/>
          <a:ln w="6350">
            <a:solidFill>
              <a:srgbClr val="111111">
                <a:alpha val="26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3419856"/>
            <a:ext cx="118872" cy="1188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95744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客群分层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095744" y="3730752"/>
            <a:ext cx="3703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按资产、行为与生命周期拆分运营策略。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784848" y="4187952"/>
            <a:ext cx="4023360" cy="0"/>
          </a:xfrm>
          <a:prstGeom prst="line">
            <a:avLst/>
          </a:prstGeom>
          <a:noFill/>
          <a:ln w="6350">
            <a:solidFill>
              <a:srgbClr val="111111">
                <a:alpha val="26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4334256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95744" y="42611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信号识别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095744" y="4645152"/>
            <a:ext cx="3703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捕捉高价值触点与潜在流失风险。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784848" y="5102352"/>
            <a:ext cx="4023360" cy="0"/>
          </a:xfrm>
          <a:prstGeom prst="line">
            <a:avLst/>
          </a:prstGeom>
          <a:noFill/>
          <a:ln w="6350">
            <a:solidFill>
              <a:srgbClr val="111111">
                <a:alpha val="26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424" y="5248656"/>
            <a:ext cx="118872" cy="1188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95744" y="51755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渠道协同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7095744" y="5559552"/>
            <a:ext cx="3703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联动 App、网点、远程服务与客户经理。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111111">
                <a:alpha val="3000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pic>
        <p:nvPicPr>
          <p:cNvPr id="5" name="Image 1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07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9692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138074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下一阶段推进路径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804672" y="3566160"/>
            <a:ext cx="10104120" cy="0"/>
          </a:xfrm>
          <a:prstGeom prst="line">
            <a:avLst/>
          </a:prstGeom>
          <a:noFill/>
          <a:ln w="10160">
            <a:solidFill>
              <a:srgbClr val="111111">
                <a:alpha val="5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511296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" y="23774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统一指标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" y="3035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明确经营、风险和体验的核心口径。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21558" y="3511296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37510" y="3630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324862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试点验证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324862" y="4288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选择重点客群和重点分行进行闭环验证。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93308" y="3511296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509260" y="23774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6612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规模推广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6612" y="3035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沉淀可复制流程并接入自动化运营。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465058" y="3511296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81010" y="36301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468362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持续评估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468362" y="42885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按月复盘指标并优化模型和策略。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111111">
                <a:alpha val="3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15240">
            <a:solidFill>
              <a:srgbClr val="C8102E">
                <a:alpha val="93000"/>
              </a:srgbClr>
            </a:solidFill>
            <a:prstDash val="solid"/>
          </a:ln>
        </p:spPr>
      </p:sp>
      <p:pic>
        <p:nvPicPr>
          <p:cNvPr id="4" name="Image 0" descr="C:\Users\lizey\Desktop\guizang-ppt-skill-main\pptxgenjs-template-generate\assets\logos\cmb-logo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"/>
            <a:ext cx="1444752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7712" y="310896"/>
            <a:ext cx="5029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招商银行经营汇报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3087" y="310896"/>
            <a:ext cx="201168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17804"/>
            <a:ext cx="169164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932688"/>
            <a:ext cx="1572768" cy="1572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96926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13232" y="1517904"/>
            <a:ext cx="9326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稳健经营，持续创造客户价值。</a:t>
            </a:r>
            <a:endParaRPr lang="en-US" sz="3300" dirty="0"/>
          </a:p>
        </p:txBody>
      </p:sp>
      <p:sp>
        <p:nvSpPr>
          <p:cNvPr id="11" name="Shape 7"/>
          <p:cNvSpPr/>
          <p:nvPr/>
        </p:nvSpPr>
        <p:spPr>
          <a:xfrm>
            <a:off x="713232" y="3849624"/>
            <a:ext cx="1417320" cy="822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416966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CHINA MERCHANTS BANK</a:t>
            </a:r>
            <a:endParaRPr lang="en-US" sz="1520" dirty="0"/>
          </a:p>
        </p:txBody>
      </p:sp>
      <p:sp>
        <p:nvSpPr>
          <p:cNvPr id="13" name="Shape 9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Review / Customer Operation / Risk Control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招商银行经营汇报</dc:title>
  <dc:subject>Business Review / Customer Operation / Risk Control</dc:subject>
  <dc:creator>China Merchants Bank</dc:creator>
  <cp:lastModifiedBy>China Merchants Bank</cp:lastModifiedBy>
  <cp:revision>1</cp:revision>
  <dcterms:created xsi:type="dcterms:W3CDTF">2026-07-06T01:58:29Z</dcterms:created>
  <dcterms:modified xsi:type="dcterms:W3CDTF">2026-07-06T01:58:29Z</dcterms:modified>
</cp:coreProperties>
</file>